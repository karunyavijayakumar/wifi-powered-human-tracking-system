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7f9fff233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7f9fff233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7f9fff233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7f9fff233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7f9fff233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7f9fff233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7f9fff233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7f9fff233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7f9fff233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7f9fff233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96bbae79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96bbae79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37f9fff233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37f9fff233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7f9fff233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7f9fff233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86" name="Google Shape;86;p13"/>
          <p:cNvSpPr txBox="1"/>
          <p:nvPr>
            <p:ph type="ctrTitle"/>
          </p:nvPr>
        </p:nvSpPr>
        <p:spPr>
          <a:xfrm>
            <a:off x="460950" y="908975"/>
            <a:ext cx="8222100" cy="1662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n-GB" sz="4080"/>
              <a:t>WiFi-POWERED HUMAN TRACKING THROUGH WALLS</a:t>
            </a:r>
            <a:endParaRPr sz="4080"/>
          </a:p>
        </p:txBody>
      </p:sp>
      <p:sp>
        <p:nvSpPr>
          <p:cNvPr id="87" name="Google Shape;87;p13"/>
          <p:cNvSpPr txBox="1"/>
          <p:nvPr>
            <p:ph idx="1" type="subTitle"/>
          </p:nvPr>
        </p:nvSpPr>
        <p:spPr>
          <a:xfrm>
            <a:off x="460950" y="3168355"/>
            <a:ext cx="8222100" cy="1523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TEAM MEMBERS :-</a:t>
            </a:r>
            <a:endParaRPr/>
          </a:p>
          <a:p>
            <a:pPr indent="0" lvl="0" marL="0" rtl="0" algn="l">
              <a:spcBef>
                <a:spcPts val="0"/>
              </a:spcBef>
              <a:spcAft>
                <a:spcPts val="0"/>
              </a:spcAft>
              <a:buNone/>
            </a:pPr>
            <a:r>
              <a:rPr lang="en-GB" sz="1700"/>
              <a:t>KARUNYA V</a:t>
            </a:r>
            <a:endParaRPr sz="1700"/>
          </a:p>
          <a:p>
            <a:pPr indent="0" lvl="0" marL="0" rtl="0" algn="l">
              <a:spcBef>
                <a:spcPts val="0"/>
              </a:spcBef>
              <a:spcAft>
                <a:spcPts val="0"/>
              </a:spcAft>
              <a:buNone/>
            </a:pPr>
            <a:r>
              <a:rPr lang="en-GB" sz="1700"/>
              <a:t>KAVITHA S</a:t>
            </a:r>
            <a:endParaRPr sz="1700"/>
          </a:p>
          <a:p>
            <a:pPr indent="0" lvl="0" marL="0" rtl="0" algn="l">
              <a:spcBef>
                <a:spcPts val="0"/>
              </a:spcBef>
              <a:spcAft>
                <a:spcPts val="0"/>
              </a:spcAft>
              <a:buNone/>
            </a:pPr>
            <a:r>
              <a:rPr lang="en-GB" sz="1700"/>
              <a:t>LAVANYA DEVI S</a:t>
            </a:r>
            <a:endParaRPr sz="1700"/>
          </a:p>
          <a:p>
            <a:pPr indent="0" lvl="0" marL="0" rtl="0" algn="l">
              <a:spcBef>
                <a:spcPts val="0"/>
              </a:spcBef>
              <a:spcAft>
                <a:spcPts val="0"/>
              </a:spcAft>
              <a:buNone/>
            </a:pPr>
            <a:r>
              <a:rPr lang="en-GB" sz="1700"/>
              <a:t>MADHUMITHA V</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ABSTRACT</a:t>
            </a:r>
            <a:endParaRPr/>
          </a:p>
        </p:txBody>
      </p:sp>
      <p:sp>
        <p:nvSpPr>
          <p:cNvPr id="93" name="Google Shape;93;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n-GB" sz="5665">
                <a:solidFill>
                  <a:srgbClr val="000000"/>
                </a:solidFill>
                <a:latin typeface="Arial"/>
                <a:ea typeface="Arial"/>
                <a:cs typeface="Arial"/>
                <a:sym typeface="Arial"/>
              </a:rPr>
              <a:t>This project develops a non-invasive human tracking system using WiFi signals to monitor movement through walls and obstacles. By leveraging </a:t>
            </a:r>
            <a:r>
              <a:rPr i="1" lang="en-GB" sz="5665">
                <a:solidFill>
                  <a:srgbClr val="000000"/>
                </a:solidFill>
                <a:latin typeface="Arial"/>
                <a:ea typeface="Arial"/>
                <a:cs typeface="Arial"/>
                <a:sym typeface="Arial"/>
              </a:rPr>
              <a:t>Channel State Information (CSI)</a:t>
            </a:r>
            <a:r>
              <a:rPr lang="en-GB" sz="5665">
                <a:solidFill>
                  <a:srgbClr val="000000"/>
                </a:solidFill>
                <a:latin typeface="Arial"/>
                <a:ea typeface="Arial"/>
                <a:cs typeface="Arial"/>
                <a:sym typeface="Arial"/>
              </a:rPr>
              <a:t> from standard routers and specialized receivers, the system detects motion-induced variations in signal characteristics—such as amplitude, phase, and Doppler shifts—without requiring wearable sensors or cameras.</a:t>
            </a:r>
            <a:endParaRPr sz="5665">
              <a:solidFill>
                <a:srgbClr val="000000"/>
              </a:solidFill>
              <a:latin typeface="Arial"/>
              <a:ea typeface="Arial"/>
              <a:cs typeface="Arial"/>
              <a:sym typeface="Arial"/>
            </a:endParaRPr>
          </a:p>
          <a:p>
            <a:pPr indent="0" lvl="0" marL="0" rtl="0" algn="l">
              <a:spcBef>
                <a:spcPts val="1200"/>
              </a:spcBef>
              <a:spcAft>
                <a:spcPts val="0"/>
              </a:spcAft>
              <a:buNone/>
            </a:pPr>
            <a:r>
              <a:rPr lang="en-GB" sz="5665">
                <a:solidFill>
                  <a:srgbClr val="000000"/>
                </a:solidFill>
                <a:latin typeface="Arial"/>
                <a:ea typeface="Arial"/>
                <a:cs typeface="Arial"/>
                <a:sym typeface="Arial"/>
              </a:rPr>
              <a:t>Machine learning models, including </a:t>
            </a:r>
            <a:r>
              <a:rPr i="1" lang="en-GB" sz="5665">
                <a:solidFill>
                  <a:srgbClr val="000000"/>
                </a:solidFill>
                <a:latin typeface="Arial"/>
                <a:ea typeface="Arial"/>
                <a:cs typeface="Arial"/>
                <a:sym typeface="Arial"/>
              </a:rPr>
              <a:t>CNNs</a:t>
            </a:r>
            <a:r>
              <a:rPr lang="en-GB" sz="5665">
                <a:solidFill>
                  <a:srgbClr val="000000"/>
                </a:solidFill>
                <a:latin typeface="Arial"/>
                <a:ea typeface="Arial"/>
                <a:cs typeface="Arial"/>
                <a:sym typeface="Arial"/>
              </a:rPr>
              <a:t> for posture estimation and </a:t>
            </a:r>
            <a:r>
              <a:rPr i="1" lang="en-GB" sz="5665">
                <a:solidFill>
                  <a:srgbClr val="000000"/>
                </a:solidFill>
                <a:latin typeface="Arial"/>
                <a:ea typeface="Arial"/>
                <a:cs typeface="Arial"/>
                <a:sym typeface="Arial"/>
              </a:rPr>
              <a:t>RNNs</a:t>
            </a:r>
            <a:r>
              <a:rPr lang="en-GB" sz="5665">
                <a:solidFill>
                  <a:srgbClr val="000000"/>
                </a:solidFill>
                <a:latin typeface="Arial"/>
                <a:ea typeface="Arial"/>
                <a:cs typeface="Arial"/>
                <a:sym typeface="Arial"/>
              </a:rPr>
              <a:t> for motion recognition, interpret CSI data, while real-time visualization techniques like </a:t>
            </a:r>
            <a:r>
              <a:rPr i="1" lang="en-GB" sz="5665">
                <a:solidFill>
                  <a:srgbClr val="000000"/>
                </a:solidFill>
                <a:latin typeface="Arial"/>
                <a:ea typeface="Arial"/>
                <a:cs typeface="Arial"/>
                <a:sym typeface="Arial"/>
              </a:rPr>
              <a:t>heatmaps</a:t>
            </a:r>
            <a:r>
              <a:rPr lang="en-GB" sz="5665">
                <a:solidFill>
                  <a:srgbClr val="000000"/>
                </a:solidFill>
                <a:latin typeface="Arial"/>
                <a:ea typeface="Arial"/>
                <a:cs typeface="Arial"/>
                <a:sym typeface="Arial"/>
              </a:rPr>
              <a:t> and </a:t>
            </a:r>
            <a:r>
              <a:rPr i="1" lang="en-GB" sz="5665">
                <a:solidFill>
                  <a:srgbClr val="000000"/>
                </a:solidFill>
                <a:latin typeface="Arial"/>
                <a:ea typeface="Arial"/>
                <a:cs typeface="Arial"/>
                <a:sym typeface="Arial"/>
              </a:rPr>
              <a:t>skeletal models</a:t>
            </a:r>
            <a:r>
              <a:rPr lang="en-GB" sz="5665">
                <a:solidFill>
                  <a:srgbClr val="000000"/>
                </a:solidFill>
                <a:latin typeface="Arial"/>
                <a:ea typeface="Arial"/>
                <a:cs typeface="Arial"/>
                <a:sym typeface="Arial"/>
              </a:rPr>
              <a:t> enhance analysis.</a:t>
            </a:r>
            <a:endParaRPr sz="5665">
              <a:solidFill>
                <a:srgbClr val="000000"/>
              </a:solidFill>
              <a:latin typeface="Arial"/>
              <a:ea typeface="Arial"/>
              <a:cs typeface="Arial"/>
              <a:sym typeface="Arial"/>
            </a:endParaRPr>
          </a:p>
          <a:p>
            <a:pPr indent="0" lvl="0" marL="0" rtl="0" algn="l">
              <a:spcBef>
                <a:spcPts val="1200"/>
              </a:spcBef>
              <a:spcAft>
                <a:spcPts val="0"/>
              </a:spcAft>
              <a:buNone/>
            </a:pPr>
            <a:r>
              <a:rPr lang="en-GB" sz="5665">
                <a:solidFill>
                  <a:srgbClr val="000000"/>
                </a:solidFill>
                <a:latin typeface="Arial"/>
                <a:ea typeface="Arial"/>
                <a:cs typeface="Arial"/>
                <a:sym typeface="Arial"/>
              </a:rPr>
              <a:t>Designed for </a:t>
            </a:r>
            <a:r>
              <a:rPr i="1" lang="en-GB" sz="5665">
                <a:solidFill>
                  <a:srgbClr val="000000"/>
                </a:solidFill>
                <a:latin typeface="Arial"/>
                <a:ea typeface="Arial"/>
                <a:cs typeface="Arial"/>
                <a:sym typeface="Arial"/>
              </a:rPr>
              <a:t>security surveillance, elderly care, smart homes,</a:t>
            </a:r>
            <a:r>
              <a:rPr lang="en-GB" sz="5665">
                <a:solidFill>
                  <a:srgbClr val="000000"/>
                </a:solidFill>
                <a:latin typeface="Arial"/>
                <a:ea typeface="Arial"/>
                <a:cs typeface="Arial"/>
                <a:sym typeface="Arial"/>
              </a:rPr>
              <a:t> and </a:t>
            </a:r>
            <a:r>
              <a:rPr i="1" lang="en-GB" sz="5665">
                <a:solidFill>
                  <a:srgbClr val="000000"/>
                </a:solidFill>
                <a:latin typeface="Arial"/>
                <a:ea typeface="Arial"/>
                <a:cs typeface="Arial"/>
                <a:sym typeface="Arial"/>
              </a:rPr>
              <a:t>disaster response</a:t>
            </a:r>
            <a:r>
              <a:rPr lang="en-GB" sz="5665">
                <a:solidFill>
                  <a:srgbClr val="000000"/>
                </a:solidFill>
                <a:latin typeface="Arial"/>
                <a:ea typeface="Arial"/>
                <a:cs typeface="Arial"/>
                <a:sym typeface="Arial"/>
              </a:rPr>
              <a:t>, the system ensures privacy, scalability, and cost-efficiency by utilizing existing WiFi infrastructure and open-source tools.</a:t>
            </a:r>
            <a:endParaRPr sz="5665">
              <a:solidFill>
                <a:srgbClr val="000000"/>
              </a:solidFill>
              <a:latin typeface="Arial"/>
              <a:ea typeface="Arial"/>
              <a:cs typeface="Arial"/>
              <a:sym typeface="Arial"/>
            </a:endParaRPr>
          </a:p>
          <a:p>
            <a:pPr indent="0" lvl="0" marL="0" rtl="0" algn="l">
              <a:spcBef>
                <a:spcPts val="1200"/>
              </a:spcBef>
              <a:spcAft>
                <a:spcPts val="0"/>
              </a:spcAft>
              <a:buNone/>
            </a:pPr>
            <a:r>
              <a:t/>
            </a:r>
            <a:endParaRPr sz="5665">
              <a:solidFill>
                <a:srgbClr val="000000"/>
              </a:solidFill>
              <a:latin typeface="Arial"/>
              <a:ea typeface="Arial"/>
              <a:cs typeface="Arial"/>
              <a:sym typeface="Arial"/>
            </a:endParaRPr>
          </a:p>
          <a:p>
            <a:pPr indent="0" lvl="0" marL="0" rtl="0" algn="l">
              <a:spcBef>
                <a:spcPts val="1200"/>
              </a:spcBef>
              <a:spcAft>
                <a:spcPts val="0"/>
              </a:spcAft>
              <a:buNone/>
            </a:pPr>
            <a:r>
              <a:t/>
            </a:r>
            <a:endParaRPr sz="5665">
              <a:solidFill>
                <a:srgbClr val="000000"/>
              </a:solidFill>
              <a:latin typeface="Arial"/>
              <a:ea typeface="Arial"/>
              <a:cs typeface="Arial"/>
              <a:sym typeface="Arial"/>
            </a:endParaRPr>
          </a:p>
          <a:p>
            <a:pPr indent="0" lvl="0" marL="0" rtl="0" algn="l">
              <a:spcBef>
                <a:spcPts val="1200"/>
              </a:spcBef>
              <a:spcAft>
                <a:spcPts val="1200"/>
              </a:spcAft>
              <a:buNone/>
            </a:pPr>
            <a:r>
              <a:t/>
            </a:r>
            <a:endParaRPr sz="636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NOVELTY </a:t>
            </a:r>
            <a:endParaRPr/>
          </a:p>
        </p:txBody>
      </p:sp>
      <p:sp>
        <p:nvSpPr>
          <p:cNvPr id="99" name="Google Shape;99;p15"/>
          <p:cNvSpPr txBox="1"/>
          <p:nvPr>
            <p:ph idx="1" type="body"/>
          </p:nvPr>
        </p:nvSpPr>
        <p:spPr>
          <a:xfrm>
            <a:off x="632875" y="1229875"/>
            <a:ext cx="8199300" cy="3102300"/>
          </a:xfrm>
          <a:prstGeom prst="rect">
            <a:avLst/>
          </a:prstGeom>
        </p:spPr>
        <p:txBody>
          <a:bodyPr anchorCtr="0" anchor="t" bIns="91425" lIns="91425" spcFirstLastPara="1" rIns="91425" wrap="square" tIns="91425">
            <a:normAutofit fontScale="85000"/>
          </a:bodyPr>
          <a:lstStyle/>
          <a:p>
            <a:pPr indent="457200" lvl="0" marL="0" rtl="0" algn="l">
              <a:spcBef>
                <a:spcPts val="1200"/>
              </a:spcBef>
              <a:spcAft>
                <a:spcPts val="0"/>
              </a:spcAft>
              <a:buNone/>
            </a:pPr>
            <a:r>
              <a:rPr lang="en-GB"/>
              <a:t>This approach optimizes energy-efficient signal processing using lightweight algorithms, edge computing, and compressed sensing to reduce computational overhead. </a:t>
            </a:r>
            <a:endParaRPr/>
          </a:p>
          <a:p>
            <a:pPr indent="457200" lvl="0" marL="0" rtl="0" algn="l">
              <a:spcBef>
                <a:spcPts val="1200"/>
              </a:spcBef>
              <a:spcAft>
                <a:spcPts val="0"/>
              </a:spcAft>
              <a:buNone/>
            </a:pPr>
            <a:r>
              <a:rPr lang="en-GB"/>
              <a:t>Low-power AI models with pruning, quantization, and </a:t>
            </a:r>
            <a:r>
              <a:rPr lang="en-GB"/>
              <a:t>Tiny ML</a:t>
            </a:r>
            <a:r>
              <a:rPr lang="en-GB"/>
              <a:t> enable efficient tracking with event-triggered activation. Passive sensing leverages existing WiFi reflections, eliminating the need for additional transmissions. </a:t>
            </a:r>
            <a:endParaRPr/>
          </a:p>
          <a:p>
            <a:pPr indent="457200" lvl="0" marL="0" rtl="0" algn="l">
              <a:spcBef>
                <a:spcPts val="1200"/>
              </a:spcBef>
              <a:spcAft>
                <a:spcPts val="0"/>
              </a:spcAft>
              <a:buNone/>
            </a:pPr>
            <a:r>
              <a:rPr lang="en-GB"/>
              <a:t>Smart CSI extraction with adaptive sampling and feature selection minimizes processing requirements, while power management techniques like duty cycling and sleep modes further enhance efficiency, making the system sustainable and low-power.</a:t>
            </a:r>
            <a:endParaRPr/>
          </a:p>
          <a:p>
            <a:pPr indent="0" lvl="0" marL="0" rtl="0" algn="l">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152400"/>
            <a:ext cx="8520600" cy="6888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GB"/>
              <a:t>                            SOFTWARE USED</a:t>
            </a:r>
            <a:endParaRPr/>
          </a:p>
        </p:txBody>
      </p:sp>
      <p:sp>
        <p:nvSpPr>
          <p:cNvPr id="105" name="Google Shape;105;p16"/>
          <p:cNvSpPr txBox="1"/>
          <p:nvPr>
            <p:ph idx="1" type="body"/>
          </p:nvPr>
        </p:nvSpPr>
        <p:spPr>
          <a:xfrm>
            <a:off x="701125" y="1210675"/>
            <a:ext cx="4792500" cy="323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91"/>
              <a:t>1 .   LINUX   [operating system]</a:t>
            </a:r>
            <a:endParaRPr b="1" sz="1491"/>
          </a:p>
          <a:p>
            <a:pPr indent="0" lvl="0" marL="0" rtl="0" algn="l">
              <a:spcBef>
                <a:spcPts val="1200"/>
              </a:spcBef>
              <a:spcAft>
                <a:spcPts val="0"/>
              </a:spcAft>
              <a:buNone/>
            </a:pPr>
            <a:r>
              <a:rPr b="1" lang="en-GB" sz="1491"/>
              <a:t>2.    LINUX  [CSI extraction]</a:t>
            </a:r>
            <a:endParaRPr b="1" sz="1491"/>
          </a:p>
          <a:p>
            <a:pPr indent="0" lvl="0" marL="0" rtl="0" algn="l">
              <a:spcBef>
                <a:spcPts val="1200"/>
              </a:spcBef>
              <a:spcAft>
                <a:spcPts val="0"/>
              </a:spcAft>
              <a:buNone/>
            </a:pPr>
            <a:r>
              <a:rPr b="1" lang="en-GB" sz="1491"/>
              <a:t>3.    PYTHON , MATLAB [Programming language]</a:t>
            </a:r>
            <a:endParaRPr b="1" sz="1491"/>
          </a:p>
          <a:p>
            <a:pPr indent="0" lvl="0" marL="0" rtl="0" algn="l">
              <a:spcBef>
                <a:spcPts val="1200"/>
              </a:spcBef>
              <a:spcAft>
                <a:spcPts val="0"/>
              </a:spcAft>
              <a:buNone/>
            </a:pPr>
            <a:r>
              <a:rPr b="1" lang="en-GB" sz="1491"/>
              <a:t>4.    VISUALIZATION [Matplotlib, Open CV, Seaborn]</a:t>
            </a:r>
            <a:endParaRPr b="1" sz="1491"/>
          </a:p>
          <a:p>
            <a:pPr indent="0" lvl="0" marL="0" rtl="0" algn="l">
              <a:spcBef>
                <a:spcPts val="1200"/>
              </a:spcBef>
              <a:spcAft>
                <a:spcPts val="0"/>
              </a:spcAft>
              <a:buNone/>
            </a:pPr>
            <a:r>
              <a:rPr b="1" lang="en-GB" sz="1491"/>
              <a:t>5.    DATA PROCESSING &amp; ANALYSIS [Numpy]</a:t>
            </a:r>
            <a:endParaRPr b="1" sz="1491"/>
          </a:p>
          <a:p>
            <a:pPr indent="0" lvl="0" marL="0" rtl="0" algn="l">
              <a:spcBef>
                <a:spcPts val="1200"/>
              </a:spcBef>
              <a:spcAft>
                <a:spcPts val="0"/>
              </a:spcAft>
              <a:buNone/>
            </a:pPr>
            <a:r>
              <a:t/>
            </a:r>
            <a:endParaRPr/>
          </a:p>
          <a:p>
            <a:pPr indent="0" lvl="0" marL="0" rtl="0" algn="l">
              <a:spcBef>
                <a:spcPts val="1200"/>
              </a:spcBef>
              <a:spcAft>
                <a:spcPts val="1200"/>
              </a:spcAft>
              <a:buNone/>
            </a:pPr>
            <a:r>
              <a:rPr lang="en-GB"/>
              <a:t> </a:t>
            </a:r>
            <a:endParaRPr/>
          </a:p>
        </p:txBody>
      </p:sp>
      <p:pic>
        <p:nvPicPr>
          <p:cNvPr id="106" name="Google Shape;106;p16"/>
          <p:cNvPicPr preferRelativeResize="0"/>
          <p:nvPr/>
        </p:nvPicPr>
        <p:blipFill>
          <a:blip r:embed="rId3">
            <a:alphaModFix/>
          </a:blip>
          <a:stretch>
            <a:fillRect/>
          </a:stretch>
        </p:blipFill>
        <p:spPr>
          <a:xfrm>
            <a:off x="5773925" y="1013975"/>
            <a:ext cx="1722102" cy="1174401"/>
          </a:xfrm>
          <a:prstGeom prst="rect">
            <a:avLst/>
          </a:prstGeom>
          <a:noFill/>
          <a:ln>
            <a:noFill/>
          </a:ln>
        </p:spPr>
      </p:pic>
      <p:pic>
        <p:nvPicPr>
          <p:cNvPr id="107" name="Google Shape;107;p16"/>
          <p:cNvPicPr preferRelativeResize="0"/>
          <p:nvPr/>
        </p:nvPicPr>
        <p:blipFill>
          <a:blip r:embed="rId4">
            <a:alphaModFix/>
          </a:blip>
          <a:stretch>
            <a:fillRect/>
          </a:stretch>
        </p:blipFill>
        <p:spPr>
          <a:xfrm>
            <a:off x="7663425" y="1067749"/>
            <a:ext cx="1480575" cy="1240250"/>
          </a:xfrm>
          <a:prstGeom prst="rect">
            <a:avLst/>
          </a:prstGeom>
          <a:noFill/>
          <a:ln>
            <a:noFill/>
          </a:ln>
        </p:spPr>
      </p:pic>
      <p:pic>
        <p:nvPicPr>
          <p:cNvPr id="108" name="Google Shape;108;p16"/>
          <p:cNvPicPr preferRelativeResize="0"/>
          <p:nvPr/>
        </p:nvPicPr>
        <p:blipFill>
          <a:blip r:embed="rId5">
            <a:alphaModFix/>
          </a:blip>
          <a:stretch>
            <a:fillRect/>
          </a:stretch>
        </p:blipFill>
        <p:spPr>
          <a:xfrm>
            <a:off x="5747124" y="2242275"/>
            <a:ext cx="1775701" cy="1174400"/>
          </a:xfrm>
          <a:prstGeom prst="rect">
            <a:avLst/>
          </a:prstGeom>
          <a:noFill/>
          <a:ln>
            <a:noFill/>
          </a:ln>
        </p:spPr>
      </p:pic>
      <p:pic>
        <p:nvPicPr>
          <p:cNvPr id="109" name="Google Shape;109;p16"/>
          <p:cNvPicPr preferRelativeResize="0"/>
          <p:nvPr/>
        </p:nvPicPr>
        <p:blipFill>
          <a:blip r:embed="rId6">
            <a:alphaModFix/>
          </a:blip>
          <a:stretch>
            <a:fillRect/>
          </a:stretch>
        </p:blipFill>
        <p:spPr>
          <a:xfrm>
            <a:off x="7619925" y="2242275"/>
            <a:ext cx="1480576" cy="1174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APPLICATIONS</a:t>
            </a:r>
            <a:endParaRPr/>
          </a:p>
        </p:txBody>
      </p:sp>
      <p:sp>
        <p:nvSpPr>
          <p:cNvPr id="115" name="Google Shape;115;p17"/>
          <p:cNvSpPr txBox="1"/>
          <p:nvPr>
            <p:ph idx="1" type="body"/>
          </p:nvPr>
        </p:nvSpPr>
        <p:spPr>
          <a:xfrm>
            <a:off x="311700" y="119542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400">
                <a:solidFill>
                  <a:srgbClr val="000000"/>
                </a:solidFill>
                <a:latin typeface="Arial"/>
                <a:ea typeface="Arial"/>
                <a:cs typeface="Arial"/>
                <a:sym typeface="Arial"/>
              </a:rPr>
              <a:t>Defence:  </a:t>
            </a:r>
            <a:r>
              <a:rPr lang="en-GB" sz="1400">
                <a:solidFill>
                  <a:srgbClr val="000000"/>
                </a:solidFill>
                <a:latin typeface="Arial"/>
                <a:ea typeface="Arial"/>
                <a:cs typeface="Arial"/>
                <a:sym typeface="Arial"/>
              </a:rPr>
              <a:t> Track suspects or hostages inside buildings during operations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Home Security</a:t>
            </a:r>
            <a:r>
              <a:rPr lang="en-GB" sz="1400">
                <a:solidFill>
                  <a:srgbClr val="000000"/>
                </a:solidFill>
                <a:latin typeface="Arial"/>
                <a:ea typeface="Arial"/>
                <a:cs typeface="Arial"/>
                <a:sym typeface="Arial"/>
              </a:rPr>
              <a:t>: Intruder detection and surveillance without cameras.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Healthcare</a:t>
            </a:r>
            <a:r>
              <a:rPr lang="en-GB" sz="1400">
                <a:solidFill>
                  <a:srgbClr val="000000"/>
                </a:solidFill>
                <a:latin typeface="Arial"/>
                <a:ea typeface="Arial"/>
                <a:cs typeface="Arial"/>
                <a:sym typeface="Arial"/>
              </a:rPr>
              <a:t>: Elderly and patient monitoring.</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Search and Rescue</a:t>
            </a:r>
            <a:r>
              <a:rPr lang="en-GB" sz="1400">
                <a:solidFill>
                  <a:srgbClr val="000000"/>
                </a:solidFill>
                <a:latin typeface="Arial"/>
                <a:ea typeface="Arial"/>
                <a:cs typeface="Arial"/>
                <a:sym typeface="Arial"/>
              </a:rPr>
              <a:t> – Locate missing persons or victims in disaster zones without physical entry.</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Industrial</a:t>
            </a:r>
            <a:r>
              <a:rPr lang="en-GB" sz="1400">
                <a:solidFill>
                  <a:srgbClr val="000000"/>
                </a:solidFill>
                <a:latin typeface="Arial"/>
                <a:ea typeface="Arial"/>
                <a:cs typeface="Arial"/>
                <a:sym typeface="Arial"/>
              </a:rPr>
              <a:t>: Worker safety and asset tracking.</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Smart Cities</a:t>
            </a:r>
            <a:r>
              <a:rPr lang="en-GB" sz="1400">
                <a:solidFill>
                  <a:srgbClr val="000000"/>
                </a:solidFill>
                <a:latin typeface="Arial"/>
                <a:ea typeface="Arial"/>
                <a:cs typeface="Arial"/>
                <a:sym typeface="Arial"/>
              </a:rPr>
              <a:t>: Crowd monitoring and public safety</a:t>
            </a:r>
            <a:endParaRPr sz="1400">
              <a:solidFill>
                <a:srgbClr val="000000"/>
              </a:solidFill>
              <a:latin typeface="Arial"/>
              <a:ea typeface="Arial"/>
              <a:cs typeface="Arial"/>
              <a:sym typeface="Arial"/>
            </a:endParaRPr>
          </a:p>
          <a:p>
            <a:pPr indent="0" lvl="0" marL="0" rtl="0" algn="l">
              <a:spcBef>
                <a:spcPts val="1200"/>
              </a:spcBef>
              <a:spcAft>
                <a:spcPts val="0"/>
              </a:spcAft>
              <a:buNone/>
            </a:pPr>
            <a:r>
              <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FUTURE SCOPE</a:t>
            </a:r>
            <a:endParaRPr/>
          </a:p>
        </p:txBody>
      </p:sp>
      <p:sp>
        <p:nvSpPr>
          <p:cNvPr id="121" name="Google Shape;121;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Enhanced Accuracy &amp; Multi-Person Tracking</a:t>
            </a:r>
            <a:r>
              <a:rPr lang="en-GB" sz="1500">
                <a:solidFill>
                  <a:srgbClr val="000000"/>
                </a:solidFill>
                <a:latin typeface="Arial"/>
                <a:ea typeface="Arial"/>
                <a:cs typeface="Arial"/>
                <a:sym typeface="Arial"/>
              </a:rPr>
              <a:t> – Improve machine learning for precise detection and differentiation.</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Smart Integration</a:t>
            </a:r>
            <a:r>
              <a:rPr lang="en-GB" sz="1500">
                <a:solidFill>
                  <a:srgbClr val="000000"/>
                </a:solidFill>
                <a:latin typeface="Arial"/>
                <a:ea typeface="Arial"/>
                <a:cs typeface="Arial"/>
                <a:sym typeface="Arial"/>
              </a:rPr>
              <a:t> – Connect with </a:t>
            </a:r>
            <a:r>
              <a:rPr i="1" lang="en-GB" sz="1500">
                <a:solidFill>
                  <a:srgbClr val="000000"/>
                </a:solidFill>
                <a:latin typeface="Arial"/>
                <a:ea typeface="Arial"/>
                <a:cs typeface="Arial"/>
                <a:sym typeface="Arial"/>
              </a:rPr>
              <a:t>smart homes, healthcare, and automation systems.</a:t>
            </a:r>
            <a:endParaRPr i="1"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Healthcare Applications</a:t>
            </a:r>
            <a:r>
              <a:rPr lang="en-GB" sz="1500">
                <a:solidFill>
                  <a:srgbClr val="000000"/>
                </a:solidFill>
                <a:latin typeface="Arial"/>
                <a:ea typeface="Arial"/>
                <a:cs typeface="Arial"/>
                <a:sym typeface="Arial"/>
              </a:rPr>
              <a:t> – Enable </a:t>
            </a:r>
            <a:r>
              <a:rPr i="1" lang="en-GB" sz="1500">
                <a:solidFill>
                  <a:srgbClr val="000000"/>
                </a:solidFill>
                <a:latin typeface="Arial"/>
                <a:ea typeface="Arial"/>
                <a:cs typeface="Arial"/>
                <a:sym typeface="Arial"/>
              </a:rPr>
              <a:t>fall detection, sleep monitoring,</a:t>
            </a:r>
            <a:r>
              <a:rPr lang="en-GB" sz="1500">
                <a:solidFill>
                  <a:srgbClr val="000000"/>
                </a:solidFill>
                <a:latin typeface="Arial"/>
                <a:ea typeface="Arial"/>
                <a:cs typeface="Arial"/>
                <a:sym typeface="Arial"/>
              </a:rPr>
              <a:t> and movement analysis.</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Advanced Localization</a:t>
            </a:r>
            <a:r>
              <a:rPr lang="en-GB" sz="1500">
                <a:solidFill>
                  <a:srgbClr val="000000"/>
                </a:solidFill>
                <a:latin typeface="Arial"/>
                <a:ea typeface="Arial"/>
                <a:cs typeface="Arial"/>
                <a:sym typeface="Arial"/>
              </a:rPr>
              <a:t> – Combine WiFi CSI with </a:t>
            </a:r>
            <a:r>
              <a:rPr i="1" lang="en-GB" sz="1500">
                <a:solidFill>
                  <a:srgbClr val="000000"/>
                </a:solidFill>
                <a:latin typeface="Arial"/>
                <a:ea typeface="Arial"/>
                <a:cs typeface="Arial"/>
                <a:sym typeface="Arial"/>
              </a:rPr>
              <a:t>UWB, LiDAR,</a:t>
            </a:r>
            <a:r>
              <a:rPr lang="en-GB" sz="1500">
                <a:solidFill>
                  <a:srgbClr val="000000"/>
                </a:solidFill>
                <a:latin typeface="Arial"/>
                <a:ea typeface="Arial"/>
                <a:cs typeface="Arial"/>
                <a:sym typeface="Arial"/>
              </a:rPr>
              <a:t> for precision tracking.</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Privacy &amp; Security</a:t>
            </a:r>
            <a:r>
              <a:rPr lang="en-GB" sz="1500">
                <a:solidFill>
                  <a:srgbClr val="000000"/>
                </a:solidFill>
                <a:latin typeface="Arial"/>
                <a:ea typeface="Arial"/>
                <a:cs typeface="Arial"/>
                <a:sym typeface="Arial"/>
              </a:rPr>
              <a:t> – Implement </a:t>
            </a:r>
            <a:r>
              <a:rPr i="1" lang="en-GB" sz="1500">
                <a:solidFill>
                  <a:srgbClr val="000000"/>
                </a:solidFill>
                <a:latin typeface="Arial"/>
                <a:ea typeface="Arial"/>
                <a:cs typeface="Arial"/>
                <a:sym typeface="Arial"/>
              </a:rPr>
              <a:t>federated learning</a:t>
            </a:r>
            <a:r>
              <a:rPr lang="en-GB" sz="1500">
                <a:solidFill>
                  <a:srgbClr val="000000"/>
                </a:solidFill>
                <a:latin typeface="Arial"/>
                <a:ea typeface="Arial"/>
                <a:cs typeface="Arial"/>
                <a:sym typeface="Arial"/>
              </a:rPr>
              <a:t> and spoofing protection.</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Scalability &amp; Deployment</a:t>
            </a:r>
            <a:r>
              <a:rPr lang="en-GB" sz="1500">
                <a:solidFill>
                  <a:srgbClr val="000000"/>
                </a:solidFill>
                <a:latin typeface="Arial"/>
                <a:ea typeface="Arial"/>
                <a:cs typeface="Arial"/>
                <a:sym typeface="Arial"/>
              </a:rPr>
              <a:t> – Optimize for </a:t>
            </a:r>
            <a:r>
              <a:rPr i="1" lang="en-GB" sz="1500">
                <a:solidFill>
                  <a:srgbClr val="000000"/>
                </a:solidFill>
                <a:latin typeface="Arial"/>
                <a:ea typeface="Arial"/>
                <a:cs typeface="Arial"/>
                <a:sym typeface="Arial"/>
              </a:rPr>
              <a:t>edge devices, search-and-rescue, and industrial safety.</a:t>
            </a:r>
            <a:endParaRPr i="1"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en-GB" sz="1500">
                <a:solidFill>
                  <a:srgbClr val="000000"/>
                </a:solidFill>
                <a:latin typeface="Arial"/>
                <a:ea typeface="Arial"/>
                <a:cs typeface="Arial"/>
                <a:sym typeface="Arial"/>
              </a:rPr>
              <a:t>Next-Gen Compatibility</a:t>
            </a:r>
            <a:r>
              <a:rPr lang="en-GB" sz="1500">
                <a:solidFill>
                  <a:srgbClr val="000000"/>
                </a:solidFill>
                <a:latin typeface="Arial"/>
                <a:ea typeface="Arial"/>
                <a:cs typeface="Arial"/>
                <a:sym typeface="Arial"/>
              </a:rPr>
              <a:t> – Adapt for </a:t>
            </a:r>
            <a:r>
              <a:rPr i="1" lang="en-GB" sz="1500">
                <a:solidFill>
                  <a:srgbClr val="000000"/>
                </a:solidFill>
                <a:latin typeface="Arial"/>
                <a:ea typeface="Arial"/>
                <a:cs typeface="Arial"/>
                <a:sym typeface="Arial"/>
              </a:rPr>
              <a:t>5G, WiFi 7,</a:t>
            </a:r>
            <a:r>
              <a:rPr lang="en-GB" sz="1500">
                <a:solidFill>
                  <a:srgbClr val="000000"/>
                </a:solidFill>
                <a:latin typeface="Arial"/>
                <a:ea typeface="Arial"/>
                <a:cs typeface="Arial"/>
                <a:sym typeface="Arial"/>
              </a:rPr>
              <a:t> and hybrid sensing.</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INFERENCE</a:t>
            </a:r>
            <a:endParaRPr/>
          </a:p>
        </p:txBody>
      </p:sp>
      <p:sp>
        <p:nvSpPr>
          <p:cNvPr id="127" name="Google Shape;127;p19"/>
          <p:cNvSpPr txBox="1"/>
          <p:nvPr>
            <p:ph idx="1" type="body"/>
          </p:nvPr>
        </p:nvSpPr>
        <p:spPr>
          <a:xfrm>
            <a:off x="482050" y="1186375"/>
            <a:ext cx="8520600" cy="3124200"/>
          </a:xfrm>
          <a:prstGeom prst="rect">
            <a:avLst/>
          </a:prstGeom>
        </p:spPr>
        <p:txBody>
          <a:bodyPr anchorCtr="0" anchor="t" bIns="91425" lIns="91425" spcFirstLastPara="1" rIns="91425" wrap="square" tIns="91425">
            <a:noAutofit/>
          </a:bodyPr>
          <a:lstStyle/>
          <a:p>
            <a:pPr indent="457200" lvl="0" marL="0" rtl="0" algn="l">
              <a:spcBef>
                <a:spcPts val="1400"/>
              </a:spcBef>
              <a:spcAft>
                <a:spcPts val="0"/>
              </a:spcAft>
              <a:buNone/>
            </a:pPr>
            <a:r>
              <a:rPr lang="en-GB" sz="1400">
                <a:solidFill>
                  <a:srgbClr val="000000"/>
                </a:solidFill>
                <a:latin typeface="Arial"/>
                <a:ea typeface="Arial"/>
                <a:cs typeface="Arial"/>
                <a:sym typeface="Arial"/>
              </a:rPr>
              <a:t>WiFi-powered human tracking system relies heavily on the integration of several advanced tools and frameworks. The combination of CSI extraction tools, data processing libraries, machine learning model, and visualization tools allows the system to interpret and track human movement using WiFi signals. While the development can be technically challenging, the end result is a highly innovative, non-invasive tracking system that opens up possibilities for various applications such as security, healthcare, and smart environments.</a:t>
            </a:r>
            <a:endParaRPr sz="1400">
              <a:solidFill>
                <a:srgbClr val="000000"/>
              </a:solidFill>
              <a:latin typeface="Arial"/>
              <a:ea typeface="Arial"/>
              <a:cs typeface="Arial"/>
              <a:sym typeface="Arial"/>
            </a:endParaRPr>
          </a:p>
          <a:p>
            <a:pPr indent="457200" lvl="0" marL="0" rtl="0" algn="l">
              <a:spcBef>
                <a:spcPts val="1400"/>
              </a:spcBef>
              <a:spcAft>
                <a:spcPts val="0"/>
              </a:spcAft>
              <a:buNone/>
            </a:pPr>
            <a:r>
              <a:rPr lang="en-GB" sz="1400">
                <a:solidFill>
                  <a:srgbClr val="000000"/>
                </a:solidFill>
                <a:latin typeface="Arial"/>
                <a:ea typeface="Arial"/>
                <a:cs typeface="Arial"/>
                <a:sym typeface="Arial"/>
              </a:rPr>
              <a:t>Ultimately, the success of this project is dependent on how effectively the software components interact, from data acquisition and preprocessing to modeling and real-time visualization. Proper optimization and real-time performance will be key to ensuring the system's accuracy and usability in practical scenarios.</a:t>
            </a:r>
            <a:endParaRPr sz="1400">
              <a:solidFill>
                <a:srgbClr val="000000"/>
              </a:solidFill>
              <a:latin typeface="Arial"/>
              <a:ea typeface="Arial"/>
              <a:cs typeface="Arial"/>
              <a:sym typeface="Arial"/>
            </a:endParaRPr>
          </a:p>
          <a:p>
            <a:pPr indent="0" lvl="0" marL="0" rtl="0" algn="l">
              <a:spcBef>
                <a:spcPts val="1400"/>
              </a:spcBef>
              <a:spcAft>
                <a:spcPts val="400"/>
              </a:spcAft>
              <a:buNone/>
            </a:pPr>
            <a:r>
              <a:t/>
            </a:r>
            <a:endParaRPr sz="13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 REFERENCE OF RESEARCH PAPER</a:t>
            </a:r>
            <a:endParaRPr/>
          </a:p>
        </p:txBody>
      </p:sp>
      <p:sp>
        <p:nvSpPr>
          <p:cNvPr id="133" name="Google Shape;133;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solidFill>
                  <a:srgbClr val="000000"/>
                </a:solidFill>
                <a:latin typeface="Arial"/>
                <a:ea typeface="Arial"/>
                <a:cs typeface="Arial"/>
                <a:sym typeface="Arial"/>
              </a:rPr>
              <a:t>1.”3D Human Pose Estimation for Free-from and Moving Activities Using WiFi" [</a:t>
            </a:r>
            <a:r>
              <a:rPr lang="en-GB" sz="1400">
                <a:solidFill>
                  <a:srgbClr val="000000"/>
                </a:solidFill>
                <a:latin typeface="Arial"/>
                <a:ea typeface="Arial"/>
                <a:cs typeface="Arial"/>
                <a:sym typeface="Arial"/>
              </a:rPr>
              <a:t>Yili Ren, Jie Yang]</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2."GaitFi: Robust Device-Free Human Identification via WiFi and Vision Multimodal Learning"</a:t>
            </a:r>
            <a:endParaRPr b="1" sz="1400">
              <a:solidFill>
                <a:srgbClr val="000000"/>
              </a:solidFill>
              <a:latin typeface="Arial"/>
              <a:ea typeface="Arial"/>
              <a:cs typeface="Arial"/>
              <a:sym typeface="Arial"/>
            </a:endParaRPr>
          </a:p>
          <a:p>
            <a:pPr indent="0" lvl="0" marL="0" rtl="0" algn="l">
              <a:spcBef>
                <a:spcPts val="1200"/>
              </a:spcBef>
              <a:spcAft>
                <a:spcPts val="0"/>
              </a:spcAft>
              <a:buNone/>
            </a:pPr>
            <a:r>
              <a:rPr i="1" lang="en-GB" sz="1400">
                <a:solidFill>
                  <a:srgbClr val="000000"/>
                </a:solidFill>
                <a:latin typeface="Arial"/>
                <a:ea typeface="Arial"/>
                <a:cs typeface="Arial"/>
                <a:sym typeface="Arial"/>
              </a:rPr>
              <a:t>[</a:t>
            </a:r>
            <a:r>
              <a:rPr lang="en-GB" sz="1400">
                <a:solidFill>
                  <a:srgbClr val="000000"/>
                </a:solidFill>
                <a:latin typeface="Arial"/>
                <a:ea typeface="Arial"/>
                <a:cs typeface="Arial"/>
                <a:sym typeface="Arial"/>
              </a:rPr>
              <a:t> Lang Deng, Jianfei Yang, Shenghai Yuan, Han Zou, Chris Xiaoxuan Lu, Lihua Xie]</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3."Single-Target Real-Time Passive WiFi Tracking"  </a:t>
            </a:r>
            <a:r>
              <a:rPr i="1" lang="en-GB" sz="1400">
                <a:solidFill>
                  <a:srgbClr val="000000"/>
                </a:solidFill>
                <a:latin typeface="Arial"/>
                <a:ea typeface="Arial"/>
                <a:cs typeface="Arial"/>
                <a:sym typeface="Arial"/>
              </a:rPr>
              <a:t>[</a:t>
            </a:r>
            <a:r>
              <a:rPr lang="en-GB" sz="1400">
                <a:solidFill>
                  <a:srgbClr val="000000"/>
                </a:solidFill>
                <a:latin typeface="Arial"/>
                <a:ea typeface="Arial"/>
                <a:cs typeface="Arial"/>
                <a:sym typeface="Arial"/>
              </a:rPr>
              <a:t>Zhongqin Wang, J. Andrew Zhang, Min Xu, Y. Jay Guo]</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4."RAPID: Retrofitting IEEE 802.11ay Access Points for Indoor Human Detection and Sensing"</a:t>
            </a:r>
            <a:endParaRPr b="1" sz="1400">
              <a:solidFill>
                <a:srgbClr val="000000"/>
              </a:solidFill>
              <a:latin typeface="Arial"/>
              <a:ea typeface="Arial"/>
              <a:cs typeface="Arial"/>
              <a:sym typeface="Arial"/>
            </a:endParaRPr>
          </a:p>
          <a:p>
            <a:pPr indent="0" lvl="0" marL="0" rtl="0" algn="l">
              <a:spcBef>
                <a:spcPts val="1200"/>
              </a:spcBef>
              <a:spcAft>
                <a:spcPts val="1200"/>
              </a:spcAft>
              <a:buNone/>
            </a:pPr>
            <a:r>
              <a:rPr i="1" lang="en-GB" sz="1400">
                <a:solidFill>
                  <a:srgbClr val="000000"/>
                </a:solidFill>
                <a:latin typeface="Arial"/>
                <a:ea typeface="Arial"/>
                <a:cs typeface="Arial"/>
                <a:sym typeface="Arial"/>
              </a:rPr>
              <a:t>Authors:</a:t>
            </a:r>
            <a:r>
              <a:rPr lang="en-GB" sz="1400">
                <a:solidFill>
                  <a:srgbClr val="000000"/>
                </a:solidFill>
                <a:latin typeface="Arial"/>
                <a:ea typeface="Arial"/>
                <a:cs typeface="Arial"/>
                <a:sym typeface="Arial"/>
              </a:rPr>
              <a:t> Jacopo Pegoraro, Jesus Omar Lacruz, Francesca Meneghello, Enver Bashirov, Michele Rossi, Joerg Widmer</a:t>
            </a:r>
            <a:endParaRPr sz="14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484925" y="1380150"/>
            <a:ext cx="8520600" cy="119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r>
              <a:rPr lang="en-GB" sz="5300"/>
              <a:t>     </a:t>
            </a:r>
            <a:r>
              <a:rPr lang="en-GB" sz="5900"/>
              <a:t>THANK YOU</a:t>
            </a:r>
            <a:endParaRPr sz="5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